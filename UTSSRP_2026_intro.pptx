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591056"/>
            <a:ext cx="100584" cy="100584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148132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BD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UTSSRP 2026  ·  COLLABORATIVE RESEARCH PROJECT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Stellar Properties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Gaia Spectra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33832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applied project in machine learning and uncertainty quantification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66928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 Speagle  ·  Statistical Sciences and Astronomy &amp; Astrophysics  ·  University of Toronto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UTSSRP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Statistical Sciences Research Program brings together top undergraduates from across Canada for a two-week research experience: June 8–19, 2026, in Toronto, with accommodation at Knox College. It has three parts.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79192" cy="169164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578608"/>
            <a:ext cx="512064" cy="512064"/>
          </a:xfrm>
          <a:prstGeom prst="ellipse">
            <a:avLst/>
          </a:prstGeom>
          <a:solidFill>
            <a:srgbClr val="F5B82E"/>
          </a:solidFill>
          <a:ln/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065" y="2716865"/>
            <a:ext cx="235549" cy="2355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3163824"/>
            <a:ext cx="2276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project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68096" y="3474720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work on a real project with a faculty supervisor and a doctoral mentor. This is what we do each afternoon.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74136" y="2377440"/>
            <a:ext cx="2679192" cy="169164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75304" y="2578608"/>
            <a:ext cx="512064" cy="512064"/>
          </a:xfrm>
          <a:prstGeom prst="ellipse">
            <a:avLst/>
          </a:prstGeom>
          <a:solidFill>
            <a:srgbClr val="F5B82E"/>
          </a:solidFill>
          <a:ln/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3561" y="2716865"/>
            <a:ext cx="235549" cy="23554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75304" y="3163824"/>
            <a:ext cx="2276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 courses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93592" y="3474720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Graduate-level short courses on statistical methods, taught by faculty (mornings).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99632" y="2377440"/>
            <a:ext cx="2679192" cy="169164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0" y="2578608"/>
            <a:ext cx="512064" cy="512064"/>
          </a:xfrm>
          <a:prstGeom prst="ellipse">
            <a:avLst/>
          </a:prstGeom>
          <a:solidFill>
            <a:srgbClr val="F5B82E"/>
          </a:solidFill>
          <a:ln/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057" y="2716865"/>
            <a:ext cx="235549" cy="23554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0" y="3163824"/>
            <a:ext cx="2276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Seminars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19088" y="3474720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talks and career-path discussions from faculty (mornings).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48640" y="42062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project ends with a lightning talk and a poster at the final-day reception.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8485632" y="4846320"/>
            <a:ext cx="64008" cy="64008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22" name="Text 17"/>
          <p:cNvSpPr/>
          <p:nvPr/>
        </p:nvSpPr>
        <p:spPr>
          <a:xfrm>
            <a:off x="8183880" y="4754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project at a glance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machine-learning models that predict a star's physical properties — temperature, gravity, composition — from its Gaia spectrum, and attach a calibrated uncertainty to every prediction.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523744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85216" y="2679192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1792" y="3008376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numbers describing each star's spectrum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072384" y="2514600"/>
            <a:ext cx="237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310128" y="2514600"/>
            <a:ext cx="2523744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46704" y="2679192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3008376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the mapping from labeled examples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833872" y="2514600"/>
            <a:ext cx="237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071616" y="2514600"/>
            <a:ext cx="2523744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08192" y="2679192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44768" y="3008376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stellar label, with an uncertainty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41148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work as a team of three across nine research afternoons, building toward conformal prediction — a method for trustworthy uncertainty.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485632" y="4846320"/>
            <a:ext cx="64008" cy="64008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18" name="Text 16"/>
          <p:cNvSpPr/>
          <p:nvPr/>
        </p:nvSpPr>
        <p:spPr>
          <a:xfrm>
            <a:off x="8183880" y="4754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produce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977640" cy="15544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773936"/>
            <a:ext cx="548640" cy="548640"/>
          </a:xfrm>
          <a:prstGeom prst="ellipse">
            <a:avLst/>
          </a:prstGeom>
          <a:solidFill>
            <a:srgbClr val="F5B82E"/>
          </a:solidFill>
          <a:ln/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517" y="1922069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1792224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Lightning talk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04672" y="239572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talk that states your question and headline result, and points people to your poster.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554480"/>
            <a:ext cx="3977640" cy="15544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01184" y="1773936"/>
            <a:ext cx="548640" cy="548640"/>
          </a:xfrm>
          <a:prstGeom prst="ellipse">
            <a:avLst/>
          </a:prstGeom>
          <a:solidFill>
            <a:srgbClr val="F5B82E"/>
          </a:solidFill>
          <a:ln/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9317" y="1922069"/>
            <a:ext cx="252374" cy="2523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96128" y="1792224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Poster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919472" y="239572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story: question, data, methods, results, and — importantly — limitations.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48640" y="33375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LOOK FOR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48640" y="361188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framing  ·  correct understanding of the methods  ·  honest, well-labeled figures  ·  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account of uncertainty and limitations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clear delivery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485632" y="4846320"/>
            <a:ext cx="64008" cy="64008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17" name="Text 13"/>
          <p:cNvSpPr/>
          <p:nvPr/>
        </p:nvSpPr>
        <p:spPr>
          <a:xfrm>
            <a:off x="8183880" y="4754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 phases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419149" cy="1600200"/>
          </a:xfrm>
          <a:prstGeom prst="roundRect">
            <a:avLst>
              <a:gd name="adj" fmla="val 5155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66190" y="2450592"/>
            <a:ext cx="384048" cy="384048"/>
          </a:xfrm>
          <a:prstGeom prst="ellipse">
            <a:avLst/>
          </a:prstGeom>
          <a:solidFill>
            <a:srgbClr val="0F1A3C"/>
          </a:solidFill>
          <a:ln/>
        </p:spPr>
      </p:sp>
      <p:sp>
        <p:nvSpPr>
          <p:cNvPr id="6" name="Text 4"/>
          <p:cNvSpPr/>
          <p:nvPr/>
        </p:nvSpPr>
        <p:spPr>
          <a:xfrm>
            <a:off x="106619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B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85216" y="2907792"/>
            <a:ext cx="13459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3236976"/>
            <a:ext cx="127284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data through plots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967789" y="2286000"/>
            <a:ext cx="2377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2205533" y="2286000"/>
            <a:ext cx="1419149" cy="1600200"/>
          </a:xfrm>
          <a:prstGeom prst="roundRect">
            <a:avLst>
              <a:gd name="adj" fmla="val 5155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23083" y="2450592"/>
            <a:ext cx="384048" cy="384048"/>
          </a:xfrm>
          <a:prstGeom prst="ellipse">
            <a:avLst/>
          </a:prstGeom>
          <a:solidFill>
            <a:srgbClr val="0F1A3C"/>
          </a:solidFill>
          <a:ln/>
        </p:spPr>
      </p:sp>
      <p:sp>
        <p:nvSpPr>
          <p:cNvPr id="12" name="Text 10"/>
          <p:cNvSpPr/>
          <p:nvPr/>
        </p:nvSpPr>
        <p:spPr>
          <a:xfrm>
            <a:off x="2723083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B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242109" y="2907792"/>
            <a:ext cx="13459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78685" y="3236976"/>
            <a:ext cx="127284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prediction pipeline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24682" y="2286000"/>
            <a:ext cx="2377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3862426" y="2286000"/>
            <a:ext cx="1419149" cy="1600200"/>
          </a:xfrm>
          <a:prstGeom prst="roundRect">
            <a:avLst>
              <a:gd name="adj" fmla="val 5155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79976" y="2450592"/>
            <a:ext cx="384048" cy="384048"/>
          </a:xfrm>
          <a:prstGeom prst="ellipse">
            <a:avLst/>
          </a:prstGeom>
          <a:solidFill>
            <a:srgbClr val="0F1A3C"/>
          </a:solidFill>
          <a:ln/>
        </p:spPr>
      </p:sp>
      <p:sp>
        <p:nvSpPr>
          <p:cNvPr id="18" name="Text 16"/>
          <p:cNvSpPr/>
          <p:nvPr/>
        </p:nvSpPr>
        <p:spPr>
          <a:xfrm>
            <a:off x="4379976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B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899002" y="2907792"/>
            <a:ext cx="13459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Quantify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35578" y="3236976"/>
            <a:ext cx="127284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+ calibration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281574" y="2286000"/>
            <a:ext cx="2377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5519318" y="2286000"/>
            <a:ext cx="1419149" cy="1600200"/>
          </a:xfrm>
          <a:prstGeom prst="roundRect">
            <a:avLst>
              <a:gd name="adj" fmla="val 5155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6869" y="2450592"/>
            <a:ext cx="384048" cy="384048"/>
          </a:xfrm>
          <a:prstGeom prst="ellipse">
            <a:avLst/>
          </a:prstGeom>
          <a:solidFill>
            <a:srgbClr val="0F1A3C"/>
          </a:solidFill>
          <a:ln/>
        </p:spPr>
      </p:sp>
      <p:sp>
        <p:nvSpPr>
          <p:cNvPr id="24" name="Text 22"/>
          <p:cNvSpPr/>
          <p:nvPr/>
        </p:nvSpPr>
        <p:spPr>
          <a:xfrm>
            <a:off x="6036869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B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555894" y="2907792"/>
            <a:ext cx="13459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Guarantee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92470" y="3236976"/>
            <a:ext cx="127284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 prediction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938467" y="2286000"/>
            <a:ext cx="2377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7176211" y="2286000"/>
            <a:ext cx="1419149" cy="1600200"/>
          </a:xfrm>
          <a:prstGeom prst="roundRect">
            <a:avLst>
              <a:gd name="adj" fmla="val 5155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93762" y="2450592"/>
            <a:ext cx="384048" cy="384048"/>
          </a:xfrm>
          <a:prstGeom prst="ellipse">
            <a:avLst/>
          </a:prstGeom>
          <a:solidFill>
            <a:srgbClr val="0F1A3C"/>
          </a:solidFill>
          <a:ln/>
        </p:spPr>
      </p:sp>
      <p:sp>
        <p:nvSpPr>
          <p:cNvPr id="30" name="Text 28"/>
          <p:cNvSpPr/>
          <p:nvPr/>
        </p:nvSpPr>
        <p:spPr>
          <a:xfrm>
            <a:off x="7693762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B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7212787" y="2907792"/>
            <a:ext cx="13459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49363" y="3236976"/>
            <a:ext cx="127284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+ poster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42519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builds on the one before it.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485632" y="4846320"/>
            <a:ext cx="64008" cy="64008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35" name="Text 33"/>
          <p:cNvSpPr/>
          <p:nvPr/>
        </p:nvSpPr>
        <p:spPr>
          <a:xfrm>
            <a:off x="8183880" y="4754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two weeks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886200" cy="283464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3886200" cy="438912"/>
          </a:xfrm>
          <a:prstGeom prst="rect">
            <a:avLst/>
          </a:prstGeom>
          <a:solidFill>
            <a:srgbClr val="0F1A3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2103120"/>
            <a:ext cx="35021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exploratory analysis</a:t>
            </a:r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★</a:t>
            </a:r>
            <a:pPr indent="0" marL="0">
              <a:spcAft>
                <a:spcPts val="500"/>
              </a:spcAft>
              <a:buNone/>
            </a:pP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 + first regression</a:t>
            </a:r>
            <a:pPr indent="0" marL="0">
              <a:spcAft>
                <a:spcPts val="500"/>
              </a:spcAft>
              <a:buNone/>
            </a:pP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ML pipeline</a:t>
            </a:r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★</a:t>
            </a:r>
            <a:pPr indent="0" marL="0">
              <a:spcAft>
                <a:spcPts val="500"/>
              </a:spcAft>
              <a:buNone/>
            </a:pP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+ tuning</a:t>
            </a:r>
            <a:pPr indent="0" marL="0">
              <a:spcAft>
                <a:spcPts val="500"/>
              </a:spcAft>
              <a:buNone/>
            </a:pP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quantification</a:t>
            </a:r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★</a:t>
            </a:r>
            <a:pPr indent="0" marL="0">
              <a:spcAft>
                <a:spcPts val="500"/>
              </a:spcAft>
              <a:buNone/>
            </a:pP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554480"/>
            <a:ext cx="3886200" cy="283464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554480"/>
            <a:ext cx="3886200" cy="438912"/>
          </a:xfrm>
          <a:prstGeom prst="rect">
            <a:avLst/>
          </a:prstGeom>
          <a:solidFill>
            <a:srgbClr val="0F1A3C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55448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10328" y="2103120"/>
            <a:ext cx="35021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 prediction</a:t>
            </a:r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★</a:t>
            </a:r>
            <a:pPr indent="0" marL="0">
              <a:spcAft>
                <a:spcPts val="500"/>
              </a:spcAft>
              <a:buNone/>
            </a:pP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model + comparison</a:t>
            </a:r>
            <a:pPr indent="0" marL="0">
              <a:spcAft>
                <a:spcPts val="500"/>
              </a:spcAft>
              <a:buNone/>
            </a:pP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Shore up + build poster/talk</a:t>
            </a:r>
            <a:pPr indent="0" marL="0">
              <a:spcAft>
                <a:spcPts val="500"/>
              </a:spcAft>
              <a:buNone/>
            </a:pP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polish</a:t>
            </a:r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★</a:t>
            </a:r>
            <a:pPr indent="0" marL="0">
              <a:spcAft>
                <a:spcPts val="500"/>
              </a:spcAft>
              <a:buNone/>
            </a:pP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 talks + posters</a:t>
            </a:r>
            <a:pPr indent="0" marL="0">
              <a:spcAft>
                <a:spcPts val="500"/>
              </a:spcAft>
              <a:buNone/>
            </a:pP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449884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</a:t>
            </a:r>
            <a:pPr indent="0" marL="0">
              <a:buNone/>
            </a:pPr>
            <a:r>
              <a:rPr lang="en-US" sz="12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topic is introduced, with Josh in the room.  Daily research block: 2:30–5:30 PM.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85632" y="4846320"/>
            <a:ext cx="64008" cy="64008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14" name="Text 12"/>
          <p:cNvSpPr/>
          <p:nvPr/>
        </p:nvSpPr>
        <p:spPr>
          <a:xfrm>
            <a:off x="8183880" y="4754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ACROSS TWO WEEKS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phases, mapped to the days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2240280" y="14630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40680" y="14630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40280" y="1737360"/>
            <a:ext cx="640080" cy="457200"/>
          </a:xfrm>
          <a:prstGeom prst="rect">
            <a:avLst/>
          </a:prstGeom>
          <a:solidFill>
            <a:srgbClr val="FFF3D6"/>
          </a:solidFill>
          <a:ln w="9525">
            <a:solidFill>
              <a:srgbClr val="E2E8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40280" y="15544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40280" y="1737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440"/>
                </a:solidFill>
              </a:rPr>
              <a:t>Mon
</a:t>
            </a:r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Jun 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80360" y="1737360"/>
            <a:ext cx="640080" cy="457200"/>
          </a:xfrm>
          <a:prstGeom prst="rect">
            <a:avLst/>
          </a:prstGeom>
          <a:solidFill>
            <a:srgbClr val="F4F6FB"/>
          </a:solidFill>
          <a:ln w="9525">
            <a:solidFill>
              <a:srgbClr val="E2E8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1737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440"/>
                </a:solidFill>
              </a:rPr>
              <a:t>Tue
</a:t>
            </a:r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Jun 9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20440" y="1737360"/>
            <a:ext cx="640080" cy="457200"/>
          </a:xfrm>
          <a:prstGeom prst="rect">
            <a:avLst/>
          </a:prstGeom>
          <a:solidFill>
            <a:srgbClr val="FFF3D6"/>
          </a:solidFill>
          <a:ln w="9525">
            <a:solidFill>
              <a:srgbClr val="E2E8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5544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0440" y="1737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440"/>
                </a:solidFill>
              </a:rPr>
              <a:t>Wed
</a:t>
            </a:r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Jun 10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60520" y="1737360"/>
            <a:ext cx="640080" cy="457200"/>
          </a:xfrm>
          <a:prstGeom prst="rect">
            <a:avLst/>
          </a:prstGeom>
          <a:solidFill>
            <a:srgbClr val="F4F6FB"/>
          </a:solidFill>
          <a:ln w="9525">
            <a:solidFill>
              <a:srgbClr val="E2E8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1737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440"/>
                </a:solidFill>
              </a:rPr>
              <a:t>Thu
</a:t>
            </a:r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Jun 11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1737360"/>
            <a:ext cx="640080" cy="457200"/>
          </a:xfrm>
          <a:prstGeom prst="rect">
            <a:avLst/>
          </a:prstGeom>
          <a:solidFill>
            <a:srgbClr val="FFF3D6"/>
          </a:solidFill>
          <a:ln w="9525">
            <a:solidFill>
              <a:srgbClr val="E2E8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5544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1737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440"/>
                </a:solidFill>
              </a:rPr>
              <a:t>Fri
</a:t>
            </a:r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Jun 12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40680" y="1737360"/>
            <a:ext cx="640080" cy="457200"/>
          </a:xfrm>
          <a:prstGeom prst="rect">
            <a:avLst/>
          </a:prstGeom>
          <a:solidFill>
            <a:srgbClr val="FFF3D6"/>
          </a:solidFill>
          <a:ln w="9525">
            <a:solidFill>
              <a:srgbClr val="E2E8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0680" y="15544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40680" y="1737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440"/>
                </a:solidFill>
              </a:rPr>
              <a:t>Mon
</a:t>
            </a:r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Jun 15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80760" y="1737360"/>
            <a:ext cx="640080" cy="457200"/>
          </a:xfrm>
          <a:prstGeom prst="rect">
            <a:avLst/>
          </a:prstGeom>
          <a:solidFill>
            <a:srgbClr val="F4F6FB"/>
          </a:solidFill>
          <a:ln w="9525">
            <a:solidFill>
              <a:srgbClr val="E2E8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1737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440"/>
                </a:solidFill>
              </a:rPr>
              <a:t>Tue
</a:t>
            </a:r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Jun 16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20840" y="1737360"/>
            <a:ext cx="640080" cy="457200"/>
          </a:xfrm>
          <a:prstGeom prst="rect">
            <a:avLst/>
          </a:prstGeom>
          <a:solidFill>
            <a:srgbClr val="F4F6FB"/>
          </a:solidFill>
          <a:ln w="9525">
            <a:solidFill>
              <a:srgbClr val="E2E8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1737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440"/>
                </a:solidFill>
              </a:rPr>
              <a:t>Wed
</a:t>
            </a:r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Jun 17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60920" y="1737360"/>
            <a:ext cx="640080" cy="457200"/>
          </a:xfrm>
          <a:prstGeom prst="rect">
            <a:avLst/>
          </a:prstGeom>
          <a:solidFill>
            <a:srgbClr val="FFF3D6"/>
          </a:solidFill>
          <a:ln w="9525">
            <a:solidFill>
              <a:srgbClr val="E2E8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60920" y="15544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60920" y="1737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440"/>
                </a:solidFill>
              </a:rPr>
              <a:t>Thu
</a:t>
            </a:r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Jun 18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01000" y="1737360"/>
            <a:ext cx="640080" cy="457200"/>
          </a:xfrm>
          <a:prstGeom prst="rect">
            <a:avLst/>
          </a:prstGeom>
          <a:solidFill>
            <a:srgbClr val="F4F6FB"/>
          </a:solidFill>
          <a:ln w="9525">
            <a:solidFill>
              <a:srgbClr val="E2E8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01000" y="1737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440"/>
                </a:solidFill>
              </a:rPr>
              <a:t>Fri
</a:t>
            </a:r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Jun 19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228600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Explore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267712" y="2286000"/>
            <a:ext cx="1225296" cy="310896"/>
          </a:xfrm>
          <a:prstGeom prst="roundRect">
            <a:avLst>
              <a:gd name="adj" fmla="val 14706"/>
            </a:avLst>
          </a:prstGeom>
          <a:solidFill>
            <a:srgbClr val="6B83C9"/>
          </a:solidFill>
          <a:ln/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304288" y="2286000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EDA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" y="266090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Build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547872" y="2660904"/>
            <a:ext cx="1225296" cy="310896"/>
          </a:xfrm>
          <a:prstGeom prst="roundRect">
            <a:avLst>
              <a:gd name="adj" fmla="val 14706"/>
            </a:avLst>
          </a:prstGeom>
          <a:solidFill>
            <a:srgbClr val="4C6FBF"/>
          </a:solidFill>
          <a:ln/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584448" y="2660904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+ model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" y="303580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Quantify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28032" y="3035808"/>
            <a:ext cx="585216" cy="310896"/>
          </a:xfrm>
          <a:prstGeom prst="roundRect">
            <a:avLst>
              <a:gd name="adj" fmla="val 14706"/>
            </a:avLst>
          </a:prstGeom>
          <a:solidFill>
            <a:srgbClr val="3B5BA5"/>
          </a:solidFill>
          <a:ln/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02920" y="341071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 Guarantee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68112" y="3410712"/>
            <a:ext cx="1225296" cy="310896"/>
          </a:xfrm>
          <a:prstGeom prst="roundRect">
            <a:avLst>
              <a:gd name="adj" fmla="val 14706"/>
            </a:avLst>
          </a:prstGeom>
          <a:solidFill>
            <a:srgbClr val="2C4A8C"/>
          </a:solidFill>
          <a:ln/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504688" y="3410712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2920" y="378561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 Communicate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748272" y="3785616"/>
            <a:ext cx="1225296" cy="310896"/>
          </a:xfrm>
          <a:prstGeom prst="roundRect">
            <a:avLst>
              <a:gd name="adj" fmla="val 14706"/>
            </a:avLst>
          </a:prstGeom>
          <a:solidFill>
            <a:srgbClr val="1E3A6E"/>
          </a:solidFill>
          <a:ln/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784848" y="3785616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+ poster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02920" y="416052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028432" y="4160520"/>
            <a:ext cx="585216" cy="310896"/>
          </a:xfrm>
          <a:prstGeom prst="roundRect">
            <a:avLst>
              <a:gd name="adj" fmla="val 14706"/>
            </a:avLst>
          </a:prstGeom>
          <a:solidFill>
            <a:srgbClr val="F5B82E"/>
          </a:solidFill>
          <a:ln/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4864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</a:t>
            </a:r>
            <a:pPr indent="0" marL="0">
              <a:buNone/>
            </a:pPr>
            <a:r>
              <a:rPr lang="en-US" sz="11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 introduced with Josh in the room.  Daily research block 2:30–5:30; evenings are yours.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485632" y="4846320"/>
            <a:ext cx="64008" cy="64008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49" name="Text 47"/>
          <p:cNvSpPr/>
          <p:nvPr/>
        </p:nvSpPr>
        <p:spPr>
          <a:xfrm>
            <a:off x="8183880" y="4754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5B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800" dirty="0"/>
          </a:p>
        </p:txBody>
      </p:sp>
      <p:sp>
        <p:nvSpPr>
          <p:cNvPr id="3" name="Text 1"/>
          <p:cNvSpPr/>
          <p:nvPr/>
        </p:nvSpPr>
        <p:spPr>
          <a:xfrm>
            <a:off x="676656" y="2514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D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science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36118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Stars, spectra, and the properties we want to measure.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stellar spectrum?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023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 star's light by wavelength and you get a </a:t>
            </a:r>
            <a:pPr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spectrum</a:t>
            </a:r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indent="0" marL="0">
              <a:lnSpc>
                <a:spcPct val="104000"/>
              </a:lnSpc>
              <a:buNone/>
            </a:pPr>
            <a:endParaRPr lang="en-US" sz="14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overall shape and its dips (absorption features) are set by the star's temperature, gravity, and chemical makeup.</a:t>
            </a:r>
            <a:endParaRPr lang="en-US" sz="1400" dirty="0"/>
          </a:p>
          <a:p>
            <a:pPr indent="0" marL="0">
              <a:lnSpc>
                <a:spcPct val="104000"/>
              </a:lnSpc>
              <a:buNone/>
            </a:pPr>
            <a:endParaRPr lang="en-US" sz="14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stars leave different fingerprints — which is exactly what lets us read properties from light.</a:t>
            </a:r>
            <a:endParaRPr lang="en-US" sz="1400" dirty="0"/>
          </a:p>
        </p:txBody>
      </p:sp>
      <p:pic>
        <p:nvPicPr>
          <p:cNvPr id="5" name="Image 0" descr="assets/spectrum.png">    </p:cNvPr>
          <p:cNvPicPr>
            <a:picLocks noChangeAspect="1"/>
          </p:cNvPicPr>
          <p:nvPr/>
        </p:nvPicPr>
        <p:blipFill>
          <a:blip r:embed="rId1"/>
          <a:srcRect l="-20339" r="-20339" t="0" b="0"/>
          <a:stretch/>
        </p:blipFill>
        <p:spPr>
          <a:xfrm>
            <a:off x="4846320" y="1508760"/>
            <a:ext cx="3794760" cy="2697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46320" y="41148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 spectra for a hotter and a cooler star.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485632" y="4846320"/>
            <a:ext cx="64008" cy="64008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8" name="Text 5"/>
          <p:cNvSpPr/>
          <p:nvPr/>
        </p:nvSpPr>
        <p:spPr>
          <a:xfrm>
            <a:off x="8183880" y="4754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properties we predict (“labels”)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46304" cy="146304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544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Effective temperature  (Tₑff)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0" y="155448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how hot the star's surface is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146304" cy="146304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042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Surface gravity  (log g)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0" y="230428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compact dwarf vs. puffed-up giant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145536"/>
            <a:ext cx="146304" cy="146304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540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Metallicity  ([Fe/H])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305409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abundance of heavy elements — a record of the star's origin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895344"/>
            <a:ext cx="146304" cy="146304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8039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Also: α-abundance, age, distance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380390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further labels available in the catalog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42976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come from careful spectroscopic analysis. They are our prediction targets — we start with metallicity, then temperature and gravity.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485632" y="4846320"/>
            <a:ext cx="64008" cy="64008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18" name="Text 16"/>
          <p:cNvSpPr/>
          <p:nvPr/>
        </p:nvSpPr>
        <p:spPr>
          <a:xfrm>
            <a:off x="8183880" y="4754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DIAGRAM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Hertzsprung–Russell / Kiel diagram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temperature against gravity and the structure of stellar populations appears:</a:t>
            </a:r>
            <a:endParaRPr lang="en-US" sz="1400" dirty="0"/>
          </a:p>
          <a:p>
            <a:pPr indent="0" marL="0">
              <a:lnSpc>
                <a:spcPct val="104000"/>
              </a:lnSpc>
              <a:buNone/>
            </a:pPr>
            <a:endParaRPr lang="en-US" sz="14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dense </a:t>
            </a:r>
            <a:pPr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C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sequence</a:t>
            </a:r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hydrogen-burning stars, and the </a:t>
            </a:r>
            <a:pPr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C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giant branch</a:t>
            </a:r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evolved stars.</a:t>
            </a:r>
            <a:endParaRPr lang="en-US" sz="1400" dirty="0"/>
          </a:p>
          <a:p>
            <a:pPr indent="0" marL="0">
              <a:lnSpc>
                <a:spcPct val="104000"/>
              </a:lnSpc>
              <a:buNone/>
            </a:pPr>
            <a:endParaRPr lang="en-US" sz="14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diagnostic you'll recreate from the data.</a:t>
            </a:r>
            <a:endParaRPr lang="en-US" sz="1400" dirty="0"/>
          </a:p>
        </p:txBody>
      </p:sp>
      <p:pic>
        <p:nvPicPr>
          <p:cNvPr id="5" name="Image 0" descr="assets/kiel.png">    </p:cNvPr>
          <p:cNvPicPr>
            <a:picLocks noChangeAspect="1"/>
          </p:cNvPicPr>
          <p:nvPr/>
        </p:nvPicPr>
        <p:blipFill>
          <a:blip r:embed="rId1"/>
          <a:srcRect l="-20492" r="-20492" t="0" b="0"/>
          <a:stretch/>
        </p:blipFill>
        <p:spPr>
          <a:xfrm>
            <a:off x="4754880" y="1463040"/>
            <a:ext cx="3931920" cy="2788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4880" y="4206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vs. gravity, colored by metallicity (illustrative).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485632" y="4846320"/>
            <a:ext cx="64008" cy="64008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8" name="Text 5"/>
          <p:cNvSpPr/>
          <p:nvPr/>
        </p:nvSpPr>
        <p:spPr>
          <a:xfrm>
            <a:off x="8183880" y="4754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INPUTS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Gaia and its XP spectra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160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Gaia (ESA) has surveyed about two billion stars.</a:t>
            </a:r>
            <a:endParaRPr lang="en-US" sz="1400" dirty="0"/>
          </a:p>
          <a:p>
            <a:pPr indent="0" marL="0">
              <a:lnSpc>
                <a:spcPct val="104000"/>
              </a:lnSpc>
              <a:buNone/>
            </a:pPr>
            <a:endParaRPr lang="en-US" sz="14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220+ million it released low-resolution “BP/RP” (XP) spectra. These aren't stored as pixels — each spectrum is compressed into </a:t>
            </a:r>
            <a:pPr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C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coefficients</a:t>
            </a:r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(55 blue + 55 red).</a:t>
            </a:r>
            <a:endParaRPr lang="en-US" sz="1400" dirty="0"/>
          </a:p>
          <a:p>
            <a:pPr indent="0" marL="0">
              <a:lnSpc>
                <a:spcPct val="104000"/>
              </a:lnSpc>
              <a:buNone/>
            </a:pPr>
            <a:endParaRPr lang="en-US" sz="14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110 numbers are our model inputs: low-resolution, but cheap and all-sky.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937760" y="1600200"/>
            <a:ext cx="1828800" cy="1024128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937760" y="1600200"/>
            <a:ext cx="64008" cy="1024128"/>
          </a:xfrm>
          <a:prstGeom prst="rect">
            <a:avLst/>
          </a:prstGeom>
          <a:solidFill>
            <a:srgbClr val="F5B82E"/>
          </a:solidFill>
          <a:ln/>
        </p:spPr>
      </p:sp>
      <p:sp>
        <p:nvSpPr>
          <p:cNvPr id="7" name="Text 5"/>
          <p:cNvSpPr/>
          <p:nvPr/>
        </p:nvSpPr>
        <p:spPr>
          <a:xfrm>
            <a:off x="5065776" y="1691640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110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084064" y="220370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per star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12280" y="1600200"/>
            <a:ext cx="1828800" cy="1024128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12280" y="1600200"/>
            <a:ext cx="64008" cy="1024128"/>
          </a:xfrm>
          <a:prstGeom prst="rect">
            <a:avLst/>
          </a:prstGeom>
          <a:solidFill>
            <a:srgbClr val="F5B82E"/>
          </a:solidFill>
          <a:ln/>
        </p:spPr>
      </p:sp>
      <p:sp>
        <p:nvSpPr>
          <p:cNvPr id="11" name="Text 9"/>
          <p:cNvSpPr/>
          <p:nvPr/>
        </p:nvSpPr>
        <p:spPr>
          <a:xfrm>
            <a:off x="6940296" y="1691640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55+55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958584" y="220370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+ red bands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937760" y="2880360"/>
            <a:ext cx="3703320" cy="1024128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37760" y="2880360"/>
            <a:ext cx="64008" cy="1024128"/>
          </a:xfrm>
          <a:prstGeom prst="rect">
            <a:avLst/>
          </a:prstGeom>
          <a:solidFill>
            <a:srgbClr val="F5B82E"/>
          </a:solidFill>
          <a:ln/>
        </p:spPr>
      </p:sp>
      <p:sp>
        <p:nvSpPr>
          <p:cNvPr id="15" name="Text 13"/>
          <p:cNvSpPr/>
          <p:nvPr/>
        </p:nvSpPr>
        <p:spPr>
          <a:xfrm>
            <a:off x="5065776" y="2971800"/>
            <a:ext cx="3502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220M+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5084064" y="3483864"/>
            <a:ext cx="3447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with XP spectra, all-sky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485632" y="4846320"/>
            <a:ext cx="64008" cy="64008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18" name="Text 16"/>
          <p:cNvSpPr/>
          <p:nvPr/>
        </p:nvSpPr>
        <p:spPr>
          <a:xfrm>
            <a:off x="8183880" y="4754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APOGEE and our training data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APOGEE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high-resolution spectroscopic survey that yields precise stellar labels. Laroche &amp; Speagle cross-matched its labels with Gaia XP spectra — and that cross-match is our training data (the high signal-to-noise filtering is already done).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938528" cy="1024128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606040"/>
            <a:ext cx="64008" cy="1024128"/>
          </a:xfrm>
          <a:prstGeom prst="rect">
            <a:avLst/>
          </a:prstGeom>
          <a:solidFill>
            <a:srgbClr val="F5B82E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269748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~502k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94944" y="3209544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stars, full catalog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15184" y="2606040"/>
            <a:ext cx="1938528" cy="1024128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15184" y="2606040"/>
            <a:ext cx="64008" cy="1024128"/>
          </a:xfrm>
          <a:prstGeom prst="rect">
            <a:avLst/>
          </a:prstGeom>
          <a:solidFill>
            <a:srgbClr val="F5B82E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269748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~203k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761488" y="3209544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high-SNR “good” set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81728" y="2606040"/>
            <a:ext cx="1938528" cy="1024128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81728" y="2606040"/>
            <a:ext cx="64008" cy="1024128"/>
          </a:xfrm>
          <a:prstGeom prst="rect">
            <a:avLst/>
          </a:prstGeom>
          <a:solidFill>
            <a:srgbClr val="F5B82E"/>
          </a:solidFill>
          <a:ln/>
        </p:spPr>
      </p:sp>
      <p:sp>
        <p:nvSpPr>
          <p:cNvPr id="15" name="Text 13"/>
          <p:cNvSpPr/>
          <p:nvPr/>
        </p:nvSpPr>
        <p:spPr>
          <a:xfrm>
            <a:off x="4809744" y="269748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110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4828032" y="3209544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coefficients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48272" y="2606040"/>
            <a:ext cx="1938528" cy="1024128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48272" y="2606040"/>
            <a:ext cx="64008" cy="1024128"/>
          </a:xfrm>
          <a:prstGeom prst="rect">
            <a:avLst/>
          </a:prstGeom>
          <a:solidFill>
            <a:srgbClr val="F5B82E"/>
          </a:solidFill>
          <a:ln/>
        </p:spPr>
      </p:sp>
      <p:sp>
        <p:nvSpPr>
          <p:cNvPr id="19" name="Text 17"/>
          <p:cNvSpPr/>
          <p:nvPr/>
        </p:nvSpPr>
        <p:spPr>
          <a:xfrm>
            <a:off x="6876288" y="269748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6894576" y="3209544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to start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40690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So: 110 spectral coefficients in, stellar labels out — a supervised learning problem.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485632" y="4846320"/>
            <a:ext cx="64008" cy="64008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23" name="Text 21"/>
          <p:cNvSpPr/>
          <p:nvPr/>
        </p:nvSpPr>
        <p:spPr>
          <a:xfrm>
            <a:off x="8183880" y="4754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matters: label transfer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High-resolution labels are precise but scarce. Gaia XP spectra are everywhere.</a:t>
            </a:r>
            <a:endParaRPr lang="en-US" sz="1400" dirty="0"/>
          </a:p>
          <a:p>
            <a:pPr indent="0" marL="0">
              <a:lnSpc>
                <a:spcPct val="104000"/>
              </a:lnSpc>
              <a:buNone/>
            </a:pPr>
            <a:endParaRPr lang="en-US" sz="14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model learns the mapping from XP spectra to labels on the stars where we have both, we can estimate labels for the </a:t>
            </a:r>
            <a:pPr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C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vastly larger</a:t>
            </a:r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set that has only XP — helping map the Milky Way at scale. This is an active research problem.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983480" y="1783080"/>
            <a:ext cx="1508760" cy="9144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983480" y="17830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~200k
</a:t>
            </a:r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stars with labels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92240" y="178308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995160" y="1554480"/>
            <a:ext cx="1645920" cy="1371600"/>
          </a:xfrm>
          <a:prstGeom prst="rect">
            <a:avLst/>
          </a:prstGeom>
          <a:solidFill>
            <a:srgbClr val="0F1A3C"/>
          </a:solidFill>
          <a:ln/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95160" y="155448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B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220M+
</a:t>
            </a:r>
            <a:pPr algn="ctr" indent="0" marL="0">
              <a:buNone/>
            </a:pPr>
            <a:r>
              <a:rPr lang="en-US" sz="1050" dirty="0">
                <a:solidFill>
                  <a:srgbClr val="CFE0FF"/>
                </a:solidFill>
              </a:rPr>
              <a:t>stars with XP only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8348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here, predict there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485632" y="4846320"/>
            <a:ext cx="64008" cy="64008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12" name="Text 10"/>
          <p:cNvSpPr/>
          <p:nvPr/>
        </p:nvSpPr>
        <p:spPr>
          <a:xfrm>
            <a:off x="8183880" y="4754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5B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800" dirty="0"/>
          </a:p>
        </p:txBody>
      </p:sp>
      <p:sp>
        <p:nvSpPr>
          <p:cNvPr id="3" name="Text 1"/>
          <p:cNvSpPr/>
          <p:nvPr/>
        </p:nvSpPr>
        <p:spPr>
          <a:xfrm>
            <a:off x="676656" y="2514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D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36118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 mapping from labeled examples to predictions.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Supervised regression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learning: </a:t>
            </a:r>
            <a:pPr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examples with known answers (inputs </a:t>
            </a:r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C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pPr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targets </a:t>
            </a:r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C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pPr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learn a function f so that f(X) ≈ y — then predict y for new inputs. </a:t>
            </a:r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pPr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means the targets are continuous numbers (here, stellar labels).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523744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85216" y="2770632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Inputs  X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1792" y="3099816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spectral coefficients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072384" y="2606040"/>
            <a:ext cx="2377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310128" y="2606040"/>
            <a:ext cx="2523744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46704" y="2770632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 f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3099816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to the labeled examples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833872" y="2606040"/>
            <a:ext cx="2377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071616" y="2606040"/>
            <a:ext cx="2523744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08192" y="2770632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  ŷ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44768" y="3099816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stellar label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42062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never sees the true answer for new stars — it has to generalize.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485632" y="4846320"/>
            <a:ext cx="64008" cy="64008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18" name="Text 16"/>
          <p:cNvSpPr/>
          <p:nvPr/>
        </p:nvSpPr>
        <p:spPr>
          <a:xfrm>
            <a:off x="8183880" y="4754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machine-learning pipeline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419149" cy="1600200"/>
          </a:xfrm>
          <a:prstGeom prst="roundRect">
            <a:avLst>
              <a:gd name="adj" fmla="val 5155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85216" y="2039112"/>
            <a:ext cx="13459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input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2368296"/>
            <a:ext cx="127284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coefficients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967789" y="1874520"/>
            <a:ext cx="2377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205533" y="1874520"/>
            <a:ext cx="1419149" cy="1600200"/>
          </a:xfrm>
          <a:prstGeom prst="roundRect">
            <a:avLst>
              <a:gd name="adj" fmla="val 5155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42109" y="2039112"/>
            <a:ext cx="13459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78685" y="2368296"/>
            <a:ext cx="127284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by G-band, then standardize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24682" y="1874520"/>
            <a:ext cx="2377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3862426" y="1874520"/>
            <a:ext cx="1419149" cy="1600200"/>
          </a:xfrm>
          <a:prstGeom prst="roundRect">
            <a:avLst>
              <a:gd name="adj" fmla="val 5155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99002" y="2039112"/>
            <a:ext cx="13459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35578" y="2368296"/>
            <a:ext cx="127284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&amp; tune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281574" y="1874520"/>
            <a:ext cx="2377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519318" y="1874520"/>
            <a:ext cx="1419149" cy="1600200"/>
          </a:xfrm>
          <a:prstGeom prst="roundRect">
            <a:avLst>
              <a:gd name="adj" fmla="val 5155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55894" y="2039112"/>
            <a:ext cx="13459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92470" y="2368296"/>
            <a:ext cx="127284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stellar label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938467" y="1874520"/>
            <a:ext cx="2377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7176211" y="1874520"/>
            <a:ext cx="1419149" cy="1600200"/>
          </a:xfrm>
          <a:prstGeom prst="roundRect">
            <a:avLst>
              <a:gd name="adj" fmla="val 5155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12787" y="2039112"/>
            <a:ext cx="13459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49363" y="2368296"/>
            <a:ext cx="127284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+ plots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37490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preprocess? </a:t>
            </a:r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Normalizing by overall brightness keeps the spectral </a:t>
            </a:r>
            <a:pPr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C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(not distance); standardizing puts all 110 coefficients on comparable scales so the model can learn from each.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485632" y="4846320"/>
            <a:ext cx="64008" cy="64008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25" name="Text 23"/>
          <p:cNvSpPr/>
          <p:nvPr/>
        </p:nvSpPr>
        <p:spPr>
          <a:xfrm>
            <a:off x="8183880" y="4754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Train, calibrate, test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875581" cy="640080"/>
          </a:xfrm>
          <a:prstGeom prst="rect">
            <a:avLst/>
          </a:prstGeom>
          <a:solidFill>
            <a:srgbClr val="0F1A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487558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15661" y="1691640"/>
            <a:ext cx="1494130" cy="640080"/>
          </a:xfrm>
          <a:prstGeom prst="rect">
            <a:avLst/>
          </a:prstGeom>
          <a:solidFill>
            <a:srgbClr val="4C6FB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15661" y="1691640"/>
            <a:ext cx="14941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009790" y="1691640"/>
            <a:ext cx="1494130" cy="640080"/>
          </a:xfrm>
          <a:prstGeom prst="rect">
            <a:avLst/>
          </a:prstGeom>
          <a:solidFill>
            <a:srgbClr val="3E7C8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09790" y="1691640"/>
            <a:ext cx="14941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688336"/>
            <a:ext cx="128016" cy="128016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60604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</a:t>
            </a:r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fit the model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145536"/>
            <a:ext cx="128016" cy="128016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06324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</a:t>
            </a:r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held out — used to check and guarantee uncertainty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602736"/>
            <a:ext cx="128016" cy="128016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352044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</a:t>
            </a:r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untouched until the end, for an honest score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41605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hold data out? </a:t>
            </a:r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simply memorizes its training data looks perfect there but fails on new stars — that's </a:t>
            </a:r>
            <a:pPr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4C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485632" y="4846320"/>
            <a:ext cx="64008" cy="64008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18" name="Text 16"/>
          <p:cNvSpPr/>
          <p:nvPr/>
        </p:nvSpPr>
        <p:spPr>
          <a:xfrm>
            <a:off x="8183880" y="4754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models you'll use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977640" cy="932688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64008" cy="932688"/>
          </a:xfrm>
          <a:prstGeom prst="rect">
            <a:avLst/>
          </a:prstGeom>
          <a:solidFill>
            <a:srgbClr val="F5B82E"/>
          </a:solidFill>
          <a:ln/>
        </p:spPr>
      </p:sp>
      <p:sp>
        <p:nvSpPr>
          <p:cNvPr id="6" name="Shape 4"/>
          <p:cNvSpPr/>
          <p:nvPr/>
        </p:nvSpPr>
        <p:spPr>
          <a:xfrm>
            <a:off x="768096" y="1801368"/>
            <a:ext cx="512064" cy="512064"/>
          </a:xfrm>
          <a:prstGeom prst="ellipse">
            <a:avLst/>
          </a:prstGeom>
          <a:solidFill>
            <a:srgbClr val="F5B82E"/>
          </a:solidFill>
          <a:ln/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353" y="1939625"/>
            <a:ext cx="235549" cy="2355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74650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regression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463040" y="2057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interpretable baseline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17720" y="1600200"/>
            <a:ext cx="3977640" cy="932688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1600200"/>
            <a:ext cx="64008" cy="932688"/>
          </a:xfrm>
          <a:prstGeom prst="rect">
            <a:avLst/>
          </a:prstGeom>
          <a:solidFill>
            <a:srgbClr val="F5B82E"/>
          </a:solidFill>
          <a:ln/>
        </p:spPr>
      </p:sp>
      <p:sp>
        <p:nvSpPr>
          <p:cNvPr id="12" name="Shape 9"/>
          <p:cNvSpPr/>
          <p:nvPr/>
        </p:nvSpPr>
        <p:spPr>
          <a:xfrm>
            <a:off x="4837176" y="1801368"/>
            <a:ext cx="512064" cy="512064"/>
          </a:xfrm>
          <a:prstGeom prst="ellipse">
            <a:avLst/>
          </a:prstGeom>
          <a:solidFill>
            <a:srgbClr val="F5B82E"/>
          </a:solidFill>
          <a:ln/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433" y="1939625"/>
            <a:ext cx="235549" cy="23554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32120" y="174650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K-nearest neighbors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532120" y="2057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from the most similar stars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2679192"/>
            <a:ext cx="3977640" cy="932688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8640" y="2679192"/>
            <a:ext cx="64008" cy="932688"/>
          </a:xfrm>
          <a:prstGeom prst="rect">
            <a:avLst/>
          </a:prstGeom>
          <a:solidFill>
            <a:srgbClr val="F5B82E"/>
          </a:solidFill>
          <a:ln/>
        </p:spPr>
      </p:sp>
      <p:sp>
        <p:nvSpPr>
          <p:cNvPr id="18" name="Shape 14"/>
          <p:cNvSpPr/>
          <p:nvPr/>
        </p:nvSpPr>
        <p:spPr>
          <a:xfrm>
            <a:off x="768096" y="2880360"/>
            <a:ext cx="512064" cy="512064"/>
          </a:xfrm>
          <a:prstGeom prst="ellipse">
            <a:avLst/>
          </a:prstGeom>
          <a:solidFill>
            <a:srgbClr val="F5B82E"/>
          </a:solidFill>
          <a:ln/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353" y="3018617"/>
            <a:ext cx="235549" cy="23554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282549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1463040" y="31363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ensemble of decision trees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4617720" y="2679192"/>
            <a:ext cx="3977640" cy="932688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617720" y="2679192"/>
            <a:ext cx="64008" cy="932688"/>
          </a:xfrm>
          <a:prstGeom prst="rect">
            <a:avLst/>
          </a:prstGeom>
          <a:solidFill>
            <a:srgbClr val="F5B82E"/>
          </a:solidFill>
          <a:ln/>
        </p:spPr>
      </p:sp>
      <p:sp>
        <p:nvSpPr>
          <p:cNvPr id="24" name="Shape 19"/>
          <p:cNvSpPr/>
          <p:nvPr/>
        </p:nvSpPr>
        <p:spPr>
          <a:xfrm>
            <a:off x="4837176" y="2880360"/>
            <a:ext cx="512064" cy="512064"/>
          </a:xfrm>
          <a:prstGeom prst="ellipse">
            <a:avLst/>
          </a:prstGeom>
          <a:solidFill>
            <a:srgbClr val="F5B82E"/>
          </a:solidFill>
          <a:ln/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5433" y="3018617"/>
            <a:ext cx="235549" cy="235549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32120" y="282549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Neural network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5532120" y="31363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flexible function fit by gradient descent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548640" y="38404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you takes one method; all are compared against the linear baseline.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8485632" y="4846320"/>
            <a:ext cx="64008" cy="64008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30" name="Text 24"/>
          <p:cNvSpPr/>
          <p:nvPr/>
        </p:nvSpPr>
        <p:spPr>
          <a:xfrm>
            <a:off x="8183880" y="4754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judge predictions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977640" cy="123444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64008" cy="1234440"/>
          </a:xfrm>
          <a:prstGeom prst="rect">
            <a:avLst/>
          </a:prstGeom>
          <a:solidFill>
            <a:srgbClr val="F5B82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6479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95528" y="2167128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prediction close to the truth on average? (low bias)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600200"/>
            <a:ext cx="3977640" cy="123444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600200"/>
            <a:ext cx="64008" cy="1234440"/>
          </a:xfrm>
          <a:prstGeom prst="rect">
            <a:avLst/>
          </a:prstGeom>
          <a:solidFill>
            <a:srgbClr val="F5B82E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76479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10328" y="2167128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scattered are the predictions? (low spread / RMSE)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10896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we look, not just summarize: </a:t>
            </a:r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predicted-vs-true plots and residuals across the parameter space show </a:t>
            </a:r>
            <a:pPr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C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model does well or poorly — a single number can hide that.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85632" y="4846320"/>
            <a:ext cx="64008" cy="64008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14" name="Text 12"/>
          <p:cNvSpPr/>
          <p:nvPr/>
        </p:nvSpPr>
        <p:spPr>
          <a:xfrm>
            <a:off x="8183880" y="4754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5B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800" dirty="0"/>
          </a:p>
        </p:txBody>
      </p:sp>
      <p:sp>
        <p:nvSpPr>
          <p:cNvPr id="3" name="Text 1"/>
          <p:cNvSpPr/>
          <p:nvPr/>
        </p:nvSpPr>
        <p:spPr>
          <a:xfrm>
            <a:off x="676656" y="2514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D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Uncertainty quantification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36118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should we trust each prediction?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point estimate isn't enough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predicted number tells you nothing about confidence.</a:t>
            </a:r>
            <a:endParaRPr lang="en-US" sz="1400" dirty="0"/>
          </a:p>
          <a:p>
            <a:pPr indent="0" marL="0">
              <a:lnSpc>
                <a:spcPct val="104000"/>
              </a:lnSpc>
              <a:buNone/>
            </a:pPr>
            <a:endParaRPr lang="en-US" sz="14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true metallicity within 0.02 of our guess, or 0.3? For science, we need a </a:t>
            </a:r>
            <a:pPr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C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true value plausibly lies in — an interval, not just a point.</a:t>
            </a:r>
            <a:endParaRPr lang="en-US" sz="1400" dirty="0"/>
          </a:p>
          <a:p>
            <a:pPr indent="0" marL="0">
              <a:lnSpc>
                <a:spcPct val="104000"/>
              </a:lnSpc>
              <a:buNone/>
            </a:pPr>
            <a:endParaRPr lang="en-US" sz="14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400" i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every prediction comes with a reliable interval.</a:t>
            </a:r>
            <a:endParaRPr lang="en-US" sz="1400" dirty="0"/>
          </a:p>
        </p:txBody>
      </p:sp>
      <p:pic>
        <p:nvPicPr>
          <p:cNvPr id="5" name="Image 0" descr="assets/interval.png">    </p:cNvPr>
          <p:cNvPicPr>
            <a:picLocks noChangeAspect="1"/>
          </p:cNvPicPr>
          <p:nvPr/>
        </p:nvPicPr>
        <p:blipFill>
          <a:blip r:embed="rId1"/>
          <a:srcRect l="-19492" r="-19492" t="0" b="0"/>
          <a:stretch/>
        </p:blipFill>
        <p:spPr>
          <a:xfrm>
            <a:off x="4892040" y="1508760"/>
            <a:ext cx="3749040" cy="2697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92040" y="4160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prediction shown with an interval; blue intervals contain the truth.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485632" y="4846320"/>
            <a:ext cx="64008" cy="64008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8" name="Text 5"/>
          <p:cNvSpPr/>
          <p:nvPr/>
        </p:nvSpPr>
        <p:spPr>
          <a:xfrm>
            <a:off x="8183880" y="4754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kinds of uncertainty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977640" cy="219456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20240"/>
            <a:ext cx="603504" cy="603504"/>
          </a:xfrm>
          <a:prstGeom prst="ellipse">
            <a:avLst/>
          </a:prstGeom>
          <a:solidFill>
            <a:srgbClr val="F5B82E"/>
          </a:solidFill>
          <a:ln/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618" y="2083186"/>
            <a:ext cx="277612" cy="27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75104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Aleatoric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26517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Irreducible noise in the data itself — measurement scatter, photon noise. More data won't make it go away.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645920"/>
            <a:ext cx="3977640" cy="219456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19472" y="1920240"/>
            <a:ext cx="603504" cy="603504"/>
          </a:xfrm>
          <a:prstGeom prst="ellipse">
            <a:avLst/>
          </a:prstGeom>
          <a:solidFill>
            <a:srgbClr val="F5B82E"/>
          </a:solidFill>
          <a:ln/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2418" y="2083186"/>
            <a:ext cx="277612" cy="2776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975104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Epistemic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937760" y="26517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in the model and what it hasn't learned yet. It shrinks with more or better data.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8640" y="40690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uncertainty methods capture different pieces — worth knowing which is which.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485632" y="4846320"/>
            <a:ext cx="64008" cy="64008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16" name="Text 12"/>
          <p:cNvSpPr/>
          <p:nvPr/>
        </p:nvSpPr>
        <p:spPr>
          <a:xfrm>
            <a:off x="8183880" y="4754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uncertainties from a model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46504"/>
            <a:ext cx="146304" cy="146304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5506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Ensembles  </a:t>
            </a:r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train several models; the spread of their predictions is uncertainty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404872"/>
            <a:ext cx="146304" cy="146304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134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 </a:t>
            </a:r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randomly switch off neural-net units at prediction time, many times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146304" cy="146304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971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scatter  </a:t>
            </a:r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model the typical error as a function of the inputs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721608"/>
            <a:ext cx="146304" cy="146304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6301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Monte Carlo  </a:t>
            </a:r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perturb the inputs within their noise and watch the output vary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37083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build a simple shared method, plus one matched to your own model.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85632" y="4846320"/>
            <a:ext cx="64008" cy="64008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14" name="Text 12"/>
          <p:cNvSpPr/>
          <p:nvPr/>
        </p:nvSpPr>
        <p:spPr>
          <a:xfrm>
            <a:off x="8183880" y="4754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the error bars honest?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interval is only useful if it's </a:t>
            </a:r>
            <a:pPr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C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</a:t>
            </a:r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“90% interval” should contain the true value about 90% of the time.</a:t>
            </a:r>
            <a:endParaRPr lang="en-US" sz="1400" dirty="0"/>
          </a:p>
          <a:p>
            <a:pPr indent="0" marL="0">
              <a:lnSpc>
                <a:spcPct val="104000"/>
              </a:lnSpc>
              <a:buNone/>
            </a:pPr>
            <a:endParaRPr lang="en-US" sz="14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only covers 70%, the model is overconfident; if 99%, it's too timid. We check coverage on held-out data before trusting it.</a:t>
            </a:r>
            <a:endParaRPr lang="en-US" sz="1400" dirty="0"/>
          </a:p>
        </p:txBody>
      </p:sp>
      <p:pic>
        <p:nvPicPr>
          <p:cNvPr id="5" name="Image 0" descr="assets/interval.png">    </p:cNvPr>
          <p:cNvPicPr>
            <a:picLocks noChangeAspect="1"/>
          </p:cNvPicPr>
          <p:nvPr/>
        </p:nvPicPr>
        <p:blipFill>
          <a:blip r:embed="rId1"/>
          <a:srcRect l="-19492" r="-19492" t="0" b="0"/>
          <a:stretch/>
        </p:blipFill>
        <p:spPr>
          <a:xfrm>
            <a:off x="4892040" y="1508760"/>
            <a:ext cx="3749040" cy="2697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92040" y="4160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how often the interval covers the truth — that's the coverage.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485632" y="4846320"/>
            <a:ext cx="64008" cy="64008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8" name="Text 5"/>
          <p:cNvSpPr/>
          <p:nvPr/>
        </p:nvSpPr>
        <p:spPr>
          <a:xfrm>
            <a:off x="8183880" y="4754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Conformal prediction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way to turn </a:t>
            </a:r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4C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model's outputs into intervals with a guaranteed coverage level — </a:t>
            </a:r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distribution-free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 assumption about the error shape) and model-agnostic.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523744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85216" y="2542032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Calibration errors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2871216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wrong the model usually is, on held-out data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072384" y="2377440"/>
            <a:ext cx="237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310128" y="2377440"/>
            <a:ext cx="2523744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46704" y="2542032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 a quantile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2871216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cutoff for the coverage you want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833872" y="2377440"/>
            <a:ext cx="237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071616" y="2377440"/>
            <a:ext cx="2523744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08192" y="2542032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Sized interval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44768" y="2871216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intervals that hit the target coverage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977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subtlety you'll probe: </a:t>
            </a:r>
            <a:pPr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4C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</a:t>
            </a:r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coverage (right on average) vs. </a:t>
            </a:r>
            <a:pPr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4C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</a:t>
            </a:r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coverage (right everywhere) — they're not the same.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485632" y="4846320"/>
            <a:ext cx="64008" cy="64008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18" name="Text 16"/>
          <p:cNvSpPr/>
          <p:nvPr/>
        </p:nvSpPr>
        <p:spPr>
          <a:xfrm>
            <a:off x="8183880" y="4754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5B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5800" dirty="0"/>
          </a:p>
        </p:txBody>
      </p:sp>
      <p:sp>
        <p:nvSpPr>
          <p:cNvPr id="3" name="Text 1"/>
          <p:cNvSpPr/>
          <p:nvPr/>
        </p:nvSpPr>
        <p:spPr>
          <a:xfrm>
            <a:off x="676656" y="2514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D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PRACTICALITIES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project &amp; today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36118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you'll work — and what to do this afternoon.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you'll work together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3611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4C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pPr indent="0" marL="0">
              <a:lnSpc>
                <a:spcPct val="104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data individually.</a:t>
            </a:r>
            <a:endParaRPr lang="en-US" sz="1400" dirty="0"/>
          </a:p>
          <a:p>
            <a:pPr indent="0" marL="0">
              <a:lnSpc>
                <a:spcPct val="104000"/>
              </a:lnSpc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4C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</a:t>
            </a:r>
            <a:pPr indent="0" marL="0">
              <a:lnSpc>
                <a:spcPct val="104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each of you owns one method.</a:t>
            </a:r>
            <a:endParaRPr lang="en-US" sz="1400" dirty="0"/>
          </a:p>
          <a:p>
            <a:pPr indent="0" marL="0">
              <a:lnSpc>
                <a:spcPct val="104000"/>
              </a:lnSpc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4C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</a:t>
            </a:r>
            <a:pPr indent="0" marL="0">
              <a:lnSpc>
                <a:spcPct val="104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cross-check results, then build one shared set of figures.</a:t>
            </a:r>
            <a:endParaRPr lang="en-US" sz="1400" dirty="0"/>
          </a:p>
          <a:p>
            <a:pPr indent="0" marL="0">
              <a:lnSpc>
                <a:spcPct val="104000"/>
              </a:lnSpc>
              <a:spcAft>
                <a:spcPts val="700"/>
              </a:spcAft>
              <a:buNone/>
            </a:pPr>
            <a:endParaRPr lang="en-US" sz="1400" dirty="0"/>
          </a:p>
          <a:p>
            <a:pPr indent="0" marL="0">
              <a:lnSpc>
                <a:spcPct val="104000"/>
              </a:lnSpc>
              <a:spcAft>
                <a:spcPts val="700"/>
              </a:spcAft>
              <a:buNone/>
            </a:pPr>
            <a:r>
              <a:rPr lang="en-US" sz="14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lives in one shared GitHub repository.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343400" y="1600200"/>
            <a:ext cx="4297680" cy="9144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43400" y="1600200"/>
            <a:ext cx="64008" cy="914400"/>
          </a:xfrm>
          <a:prstGeom prst="rect">
            <a:avLst/>
          </a:prstGeom>
          <a:solidFill>
            <a:srgbClr val="F5B82E"/>
          </a:solidFill>
          <a:ln/>
        </p:spPr>
      </p:sp>
      <p:sp>
        <p:nvSpPr>
          <p:cNvPr id="7" name="Shape 5"/>
          <p:cNvSpPr/>
          <p:nvPr/>
        </p:nvSpPr>
        <p:spPr>
          <a:xfrm>
            <a:off x="4562856" y="1801368"/>
            <a:ext cx="512064" cy="512064"/>
          </a:xfrm>
          <a:prstGeom prst="ellipse">
            <a:avLst/>
          </a:prstGeom>
          <a:solidFill>
            <a:srgbClr val="F5B82E"/>
          </a:solidFill>
          <a:ln/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1113" y="1939625"/>
            <a:ext cx="235549" cy="23554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57800" y="174650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257800" y="20574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43400" y="2624328"/>
            <a:ext cx="4297680" cy="9144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43400" y="2624328"/>
            <a:ext cx="64008" cy="914400"/>
          </a:xfrm>
          <a:prstGeom prst="rect">
            <a:avLst/>
          </a:prstGeom>
          <a:solidFill>
            <a:srgbClr val="F5B82E"/>
          </a:solidFill>
          <a:ln/>
        </p:spPr>
      </p:sp>
      <p:sp>
        <p:nvSpPr>
          <p:cNvPr id="13" name="Shape 10"/>
          <p:cNvSpPr/>
          <p:nvPr/>
        </p:nvSpPr>
        <p:spPr>
          <a:xfrm>
            <a:off x="4562856" y="2825496"/>
            <a:ext cx="512064" cy="512064"/>
          </a:xfrm>
          <a:prstGeom prst="ellipse">
            <a:avLst/>
          </a:prstGeom>
          <a:solidFill>
            <a:srgbClr val="F5B82E"/>
          </a:solidFill>
          <a:ln/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113" y="2963753"/>
            <a:ext cx="235549" cy="23554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277063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B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257800" y="308152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343400" y="3648456"/>
            <a:ext cx="4297680" cy="9144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343400" y="3648456"/>
            <a:ext cx="64008" cy="914400"/>
          </a:xfrm>
          <a:prstGeom prst="rect">
            <a:avLst/>
          </a:prstGeom>
          <a:solidFill>
            <a:srgbClr val="F5B82E"/>
          </a:solidFill>
          <a:ln/>
        </p:spPr>
      </p:sp>
      <p:sp>
        <p:nvSpPr>
          <p:cNvPr id="19" name="Shape 15"/>
          <p:cNvSpPr/>
          <p:nvPr/>
        </p:nvSpPr>
        <p:spPr>
          <a:xfrm>
            <a:off x="4562856" y="3849624"/>
            <a:ext cx="512064" cy="512064"/>
          </a:xfrm>
          <a:prstGeom prst="ellipse">
            <a:avLst/>
          </a:prstGeom>
          <a:solidFill>
            <a:srgbClr val="F5B82E"/>
          </a:solidFill>
          <a:ln/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113" y="3987881"/>
            <a:ext cx="235549" cy="23554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57800" y="379476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C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5257800" y="410565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8485632" y="4846320"/>
            <a:ext cx="64008" cy="64008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24" name="Text 19"/>
          <p:cNvSpPr/>
          <p:nvPr/>
        </p:nvSpPr>
        <p:spPr>
          <a:xfrm>
            <a:off x="8183880" y="4754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take away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93776" cy="493776"/>
          </a:xfrm>
          <a:prstGeom prst="ellipse">
            <a:avLst/>
          </a:prstGeom>
          <a:solidFill>
            <a:srgbClr val="F5B82E"/>
          </a:solidFill>
          <a:ln/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960" y="1733520"/>
            <a:ext cx="227137" cy="2271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153619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 about uncertainty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07008" y="1865376"/>
            <a:ext cx="3310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error bar and “coverage” really mean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17720" y="1600200"/>
            <a:ext cx="493776" cy="493776"/>
          </a:xfrm>
          <a:prstGeom prst="ellipse">
            <a:avLst/>
          </a:prstGeom>
          <a:solidFill>
            <a:srgbClr val="F5B82E"/>
          </a:solidFill>
          <a:ln/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040" y="1733520"/>
            <a:ext cx="227137" cy="22713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76088" y="153619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 &amp; diagnose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5276088" y="1865376"/>
            <a:ext cx="3310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data and models through plots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2624328"/>
            <a:ext cx="493776" cy="493776"/>
          </a:xfrm>
          <a:prstGeom prst="ellipse">
            <a:avLst/>
          </a:prstGeom>
          <a:solidFill>
            <a:srgbClr val="F5B82E"/>
          </a:solidFill>
          <a:ln/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960" y="2757648"/>
            <a:ext cx="227137" cy="22713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07008" y="25603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pipeline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07008" y="2889504"/>
            <a:ext cx="3310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frame, train, tune, and evaluate a model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17720" y="2624328"/>
            <a:ext cx="493776" cy="493776"/>
          </a:xfrm>
          <a:prstGeom prst="ellipse">
            <a:avLst/>
          </a:prstGeom>
          <a:solidFill>
            <a:srgbClr val="F5B82E"/>
          </a:solidFill>
          <a:ln/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1040" y="2757648"/>
            <a:ext cx="227137" cy="22713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76088" y="25603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Conformal prediction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5276088" y="2889504"/>
            <a:ext cx="3310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intervals — and where they break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3648456"/>
            <a:ext cx="493776" cy="493776"/>
          </a:xfrm>
          <a:prstGeom prst="ellipse">
            <a:avLst/>
          </a:prstGeom>
          <a:solidFill>
            <a:srgbClr val="F5B82E"/>
          </a:solidFill>
          <a:ln/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960" y="3781776"/>
            <a:ext cx="227137" cy="22713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07008" y="358444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Collaborate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1207008" y="3913632"/>
            <a:ext cx="3310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work, then combine results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4617720" y="3648456"/>
            <a:ext cx="493776" cy="493776"/>
          </a:xfrm>
          <a:prstGeom prst="ellipse">
            <a:avLst/>
          </a:prstGeom>
          <a:solidFill>
            <a:srgbClr val="F5B82E"/>
          </a:solidFill>
          <a:ln/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1040" y="3781776"/>
            <a:ext cx="227137" cy="227137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276088" y="358444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Communicate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5276088" y="3913632"/>
            <a:ext cx="3310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talk and poster, limitations included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8485632" y="4846320"/>
            <a:ext cx="64008" cy="64008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29" name="Text 21"/>
          <p:cNvSpPr/>
          <p:nvPr/>
        </p:nvSpPr>
        <p:spPr>
          <a:xfrm>
            <a:off x="8183880" y="4754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days run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48640" cy="548640"/>
          </a:xfrm>
          <a:prstGeom prst="ellipse">
            <a:avLst/>
          </a:prstGeom>
          <a:solidFill>
            <a:srgbClr val="F5B82E"/>
          </a:solidFill>
          <a:ln/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3" y="1775765"/>
            <a:ext cx="252374" cy="2523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591056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research block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71600" y="1901952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2:30–5:30 PM. Mornings are the program's short courses and seminars.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414016"/>
            <a:ext cx="548640" cy="548640"/>
          </a:xfrm>
          <a:prstGeom prst="ellipse">
            <a:avLst/>
          </a:prstGeom>
          <a:solidFill>
            <a:srgbClr val="F5B82E"/>
          </a:solidFill>
          <a:ln/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3" y="2562149"/>
            <a:ext cx="252374" cy="25237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37744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Who's in the room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71600" y="2688336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 introduces each new topic (Mon/Wed/Fri, then Mon/Thu); a TA and doctoral mentor support you every day.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200400"/>
            <a:ext cx="548640" cy="548640"/>
          </a:xfrm>
          <a:prstGeom prst="ellipse">
            <a:avLst/>
          </a:prstGeom>
          <a:solidFill>
            <a:srgbClr val="F5B82E"/>
          </a:solidFill>
          <a:ln/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3" y="3348533"/>
            <a:ext cx="252374" cy="25237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163824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shared repo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71600" y="347472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team works in a single GitHub repository.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3986784"/>
            <a:ext cx="548640" cy="548640"/>
          </a:xfrm>
          <a:prstGeom prst="ellipse">
            <a:avLst/>
          </a:prstGeom>
          <a:solidFill>
            <a:srgbClr val="F5B82E"/>
          </a:solidFill>
          <a:ln/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3" y="4134917"/>
            <a:ext cx="252374" cy="25237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3950208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showcase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371600" y="4261104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 talks and a poster session at the Friday, June 19 reception.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8485632" y="4846320"/>
            <a:ext cx="64008" cy="64008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21" name="Text 15"/>
          <p:cNvSpPr/>
          <p:nvPr/>
        </p:nvSpPr>
        <p:spPr>
          <a:xfrm>
            <a:off x="8183880" y="4754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Today: explore the data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886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modeling today.</a:t>
            </a:r>
            <a:endParaRPr lang="en-US" sz="1400" dirty="0"/>
          </a:p>
          <a:p>
            <a:pPr indent="0" marL="0">
              <a:lnSpc>
                <a:spcPct val="104000"/>
              </a:lnSpc>
              <a:buNone/>
            </a:pPr>
            <a:endParaRPr lang="en-US" sz="14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data, reconstruct a few example spectra, and plot the inputs and the labels. Get a real feel for what's there before building anything.</a:t>
            </a:r>
            <a:endParaRPr lang="en-US" sz="1400" dirty="0"/>
          </a:p>
          <a:p>
            <a:pPr indent="0" marL="0">
              <a:lnSpc>
                <a:spcPct val="104000"/>
              </a:lnSpc>
              <a:buNone/>
            </a:pPr>
            <a:endParaRPr lang="en-US" sz="14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4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“Become one with the data” — understand it thoroughly first.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63440" y="1554480"/>
            <a:ext cx="3977640" cy="26974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9204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TO MAKE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83480" y="2103120"/>
            <a:ext cx="3474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spectra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Signal-to-noise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scales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distributions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Kiel diagram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43708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to be able to explain each plot — every claim should be something you can show.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485632" y="4846320"/>
            <a:ext cx="64008" cy="64008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10" name="Text 8"/>
          <p:cNvSpPr/>
          <p:nvPr/>
        </p:nvSpPr>
        <p:spPr>
          <a:xfrm>
            <a:off x="8183880" y="4754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does what today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79192" cy="1783080"/>
          </a:xfrm>
          <a:prstGeom prst="roundRect">
            <a:avLst>
              <a:gd name="adj" fmla="val 4103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7340" y="1901952"/>
            <a:ext cx="621792" cy="621792"/>
          </a:xfrm>
          <a:prstGeom prst="ellipse">
            <a:avLst/>
          </a:prstGeom>
          <a:solidFill>
            <a:srgbClr val="0F1A3C"/>
          </a:solidFill>
          <a:ln/>
        </p:spPr>
      </p:sp>
      <p:sp>
        <p:nvSpPr>
          <p:cNvPr id="6" name="Text 4"/>
          <p:cNvSpPr/>
          <p:nvPr/>
        </p:nvSpPr>
        <p:spPr>
          <a:xfrm>
            <a:off x="1577340" y="19019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2596896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907792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spectra  +  signal-to-noise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92424" y="1645920"/>
            <a:ext cx="2679192" cy="1783080"/>
          </a:xfrm>
          <a:prstGeom prst="roundRect">
            <a:avLst>
              <a:gd name="adj" fmla="val 4103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21124" y="1901952"/>
            <a:ext cx="621792" cy="621792"/>
          </a:xfrm>
          <a:prstGeom prst="ellipse">
            <a:avLst/>
          </a:prstGeom>
          <a:solidFill>
            <a:srgbClr val="0F1A3C"/>
          </a:solidFill>
          <a:ln/>
        </p:spPr>
      </p:sp>
      <p:sp>
        <p:nvSpPr>
          <p:cNvPr id="11" name="Text 9"/>
          <p:cNvSpPr/>
          <p:nvPr/>
        </p:nvSpPr>
        <p:spPr>
          <a:xfrm>
            <a:off x="4421124" y="19019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483864" y="2596896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B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75304" y="2907792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scales  +  correlation heatmap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36208" y="1645920"/>
            <a:ext cx="2679192" cy="1783080"/>
          </a:xfrm>
          <a:prstGeom prst="roundRect">
            <a:avLst>
              <a:gd name="adj" fmla="val 4103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F1A3C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64908" y="1901952"/>
            <a:ext cx="621792" cy="621792"/>
          </a:xfrm>
          <a:prstGeom prst="ellipse">
            <a:avLst/>
          </a:prstGeom>
          <a:solidFill>
            <a:srgbClr val="0F1A3C"/>
          </a:solidFill>
          <a:ln/>
        </p:spPr>
      </p:sp>
      <p:sp>
        <p:nvSpPr>
          <p:cNvPr id="16" name="Text 14"/>
          <p:cNvSpPr/>
          <p:nvPr/>
        </p:nvSpPr>
        <p:spPr>
          <a:xfrm>
            <a:off x="7264908" y="19019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27648" y="2596896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C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19088" y="2907792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corner plot  +  Kiel diagram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1148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First: set up the shared repo and agree who does what.  </a:t>
            </a:r>
            <a:pPr algn="ctr" indent="0" marL="0">
              <a:buNone/>
            </a:pPr>
            <a:r>
              <a:rPr lang="en-US" sz="1250" b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minimum: each of you brings 2–3 annotated plots to share.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485632" y="4846320"/>
            <a:ext cx="64008" cy="64008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21" name="Text 19"/>
          <p:cNvSpPr/>
          <p:nvPr/>
        </p:nvSpPr>
        <p:spPr>
          <a:xfrm>
            <a:off x="8183880" y="4754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BD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we're headed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69748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explore the data.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build prediction pipelines and quantify uncertainty.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conformal prediction, then your talk and poster.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B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UTSSRP 2026 — Predicting Stellar Properties from Gaia Spectra</dc:title>
  <dc:subject>PptxGenJS Presentation</dc:subject>
  <dc:creator>Josh Speagle</dc:creator>
  <cp:lastModifiedBy>Josh Speagle</cp:lastModifiedBy>
  <cp:revision>1</cp:revision>
  <dcterms:created xsi:type="dcterms:W3CDTF">2026-06-06T22:22:51Z</dcterms:created>
  <dcterms:modified xsi:type="dcterms:W3CDTF">2026-06-06T22:22:51Z</dcterms:modified>
</cp:coreProperties>
</file>